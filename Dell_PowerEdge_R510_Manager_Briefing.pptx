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7d912876114647" /><Relationship Type="http://schemas.openxmlformats.org/officeDocument/2006/relationships/extended-properties" Target="/docProps/app.xml" Id="Rbbccfbaccbed4c41" /><Relationship Type="http://schemas.openxmlformats.org/officeDocument/2006/relationships/officeDocument" Target="/ppt/presentation.xml" Id="R5cfdd019183c49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fad5a3a10e4e94"/>
  </p:sldMasterIdLst>
  <p:notesMasterIdLst>
    <p:notesMasterId xmlns:r="http://schemas.openxmlformats.org/officeDocument/2006/relationships" r:id="Rf9905066c8f1485d"/>
  </p:notesMasterIdLst>
  <p:sldIdLst>
    <p:sldId xmlns:r="http://schemas.openxmlformats.org/officeDocument/2006/relationships" id="256" r:id="R6724e6f430d64b7d"/>
    <p:sldId xmlns:r="http://schemas.openxmlformats.org/officeDocument/2006/relationships" id="257" r:id="R73293dc44de942b7"/>
    <p:sldId xmlns:r="http://schemas.openxmlformats.org/officeDocument/2006/relationships" id="258" r:id="R024a0cf65bee4b89"/>
    <p:sldId xmlns:r="http://schemas.openxmlformats.org/officeDocument/2006/relationships" id="259" r:id="R13346741bd194dde"/>
    <p:sldId xmlns:r="http://schemas.openxmlformats.org/officeDocument/2006/relationships" id="260" r:id="R70936ce1e9044555"/>
    <p:sldId xmlns:r="http://schemas.openxmlformats.org/officeDocument/2006/relationships" id="261" r:id="Rbb00da20ee4a4846"/>
    <p:sldId xmlns:r="http://schemas.openxmlformats.org/officeDocument/2006/relationships" id="262" r:id="R894f0426b972492f"/>
    <p:sldId xmlns:r="http://schemas.openxmlformats.org/officeDocument/2006/relationships" id="263" r:id="Rb324adcc8e4b482c"/>
    <p:sldId xmlns:r="http://schemas.openxmlformats.org/officeDocument/2006/relationships" id="264" r:id="Rb522d9857ce448bb"/>
    <p:sldId xmlns:r="http://schemas.openxmlformats.org/officeDocument/2006/relationships" id="265" r:id="R8b3abd8c3d4f49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e098ceae7a4ca5" /><Relationship Type="http://schemas.openxmlformats.org/officeDocument/2006/relationships/slideMaster" Target="/ppt/slideMasters/slideMaster1.xml" Id="Rdcfad5a3a10e4e94" /><Relationship Type="http://schemas.openxmlformats.org/officeDocument/2006/relationships/notesMaster" Target="/ppt/notesMasters/notesMaster1.xml" Id="Rf9905066c8f1485d" /><Relationship Type="http://schemas.openxmlformats.org/officeDocument/2006/relationships/presProps" Target="/ppt/presProps.xml" Id="R5a27219b839d4d7c" /><Relationship Type="http://schemas.openxmlformats.org/officeDocument/2006/relationships/tableStyles" Target="/ppt/tableStyles.xml" Id="R991d9421daab4faa" /><Relationship Type="http://schemas.openxmlformats.org/officeDocument/2006/relationships/slide" Target="/ppt/slides/slide1.xml" Id="R6724e6f430d64b7d" /><Relationship Type="http://schemas.openxmlformats.org/officeDocument/2006/relationships/slide" Target="/ppt/slides/slide2.xml" Id="R73293dc44de942b7" /><Relationship Type="http://schemas.openxmlformats.org/officeDocument/2006/relationships/slide" Target="/ppt/slides/slide3.xml" Id="R024a0cf65bee4b89" /><Relationship Type="http://schemas.openxmlformats.org/officeDocument/2006/relationships/slide" Target="/ppt/slides/slide4.xml" Id="R13346741bd194dde" /><Relationship Type="http://schemas.openxmlformats.org/officeDocument/2006/relationships/slide" Target="/ppt/slides/slide5.xml" Id="R70936ce1e9044555" /><Relationship Type="http://schemas.openxmlformats.org/officeDocument/2006/relationships/slide" Target="/ppt/slides/slide6.xml" Id="Rbb00da20ee4a4846" /><Relationship Type="http://schemas.openxmlformats.org/officeDocument/2006/relationships/slide" Target="/ppt/slides/slide7.xml" Id="R894f0426b972492f" /><Relationship Type="http://schemas.openxmlformats.org/officeDocument/2006/relationships/slide" Target="/ppt/slides/slide8.xml" Id="Rb324adcc8e4b482c" /><Relationship Type="http://schemas.openxmlformats.org/officeDocument/2006/relationships/slide" Target="/ppt/slides/slide9.xml" Id="Rb522d9857ce448bb" /><Relationship Type="http://schemas.openxmlformats.org/officeDocument/2006/relationships/slide" Target="/ppt/slides/slide10.xml" Id="R8b3abd8c3d4f49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450c7cbc4b4b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8b45348eef49a5" /><Relationship Type="http://schemas.openxmlformats.org/officeDocument/2006/relationships/notesMaster" Target="/ppt/notesMasters/notesMaster1.xml" Id="R241696bc71bc44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12ac79d22646ef" /><Relationship Type="http://schemas.openxmlformats.org/officeDocument/2006/relationships/notesMaster" Target="/ppt/notesMasters/notesMaster1.xml" Id="Rbf8f0e4e7d9944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4a6afb7f56489c" /><Relationship Type="http://schemas.openxmlformats.org/officeDocument/2006/relationships/notesMaster" Target="/ppt/notesMasters/notesMaster1.xml" Id="Rbba9a7e2b38145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f9c4e1b9474076" /><Relationship Type="http://schemas.openxmlformats.org/officeDocument/2006/relationships/notesMaster" Target="/ppt/notesMasters/notesMaster1.xml" Id="R94aa692329c342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8b5310c7ae4d8a" /><Relationship Type="http://schemas.openxmlformats.org/officeDocument/2006/relationships/notesMaster" Target="/ppt/notesMasters/notesMaster1.xml" Id="R77878b75da1947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e4ec9b38454a74" /><Relationship Type="http://schemas.openxmlformats.org/officeDocument/2006/relationships/notesMaster" Target="/ppt/notesMasters/notesMaster1.xml" Id="Re12f7332d2e24b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bec71cbe8c4256" /><Relationship Type="http://schemas.openxmlformats.org/officeDocument/2006/relationships/notesMaster" Target="/ppt/notesMasters/notesMaster1.xml" Id="R34e2f517b26740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4916b06d144e24" /><Relationship Type="http://schemas.openxmlformats.org/officeDocument/2006/relationships/notesMaster" Target="/ppt/notesMasters/notesMaster1.xml" Id="R509da3a0a33a4c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54543218704339" /><Relationship Type="http://schemas.openxmlformats.org/officeDocument/2006/relationships/notesMaster" Target="/ppt/notesMasters/notesMaster1.xml" Id="Ra0cd9fb589ab46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2bd27b1e9f41f7" /><Relationship Type="http://schemas.openxmlformats.org/officeDocument/2006/relationships/notesMaster" Target="/ppt/notesMasters/notesMaster1.xml" Id="R192a2342ae2541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evidence/01-server-front.jpeg. This presentation summarizes my direct physical inspection and the POST/BIOS evidence I captured.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evidence/11-rear-io.jpeg. The scope was visual inspection and startup capture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evidence/02-open-chassis.jpeg. Observations reflect a limited visual inspection, not an electrical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evidence/04-front-drive-labels.jpeg and evidence/05-internal-wd-red-drive.jpeg. Raw capacity does not equal usable RAID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evidence/07-raid-controller-and-cache.jpeg and evidence/06-raid-battery.jpeg. The observed deformation is a diagnostic lead, not a confirmed root cause.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evidence/09-post-memory-warning.jpeg and evidence/10-post-raid-error.jpeg. POST also reported zero virtual drives on the H800.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separates confirmed POST output, direct observation, hypothesis, and the test required to confirm or reject the hypothesis.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evidence/08-memory-module.jpeg plus POST photographs. The visible memory layout matches the POST warning.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sequence prioritizes non-destructive inspection and evidence capture before configuration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statement. The repository README is the primary project narrative, with this deck and the report as supporting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5d27bd05249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b54b994d0e47ad" /><Relationship Type="http://schemas.openxmlformats.org/officeDocument/2006/relationships/slideLayout" Target="/ppt/slideLayouts/slideLayout1.xml" Id="R29eb79f9f3e44a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eb79f9f3e44a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7ebcddc43469e" /><Relationship Type="http://schemas.openxmlformats.org/officeDocument/2006/relationships/image" Target="/ppt/media/image.jpeg" Id="Ra7472b0b2c1f4f76" /><Relationship Type="http://schemas.openxmlformats.org/officeDocument/2006/relationships/notesSlide" Target="/ppt/notesSlides/notesSlide1.xml" Id="Rddb22d6181b848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7cb5f3d60404a" /><Relationship Type="http://schemas.openxmlformats.org/officeDocument/2006/relationships/image" Target="/ppt/media/image2.jpeg" Id="Re2cf984fae4d44a4" /><Relationship Type="http://schemas.openxmlformats.org/officeDocument/2006/relationships/notesSlide" Target="/ppt/notesSlides/notesSlide2.xml" Id="R91af992c318942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6c35659734ab3" /><Relationship Type="http://schemas.openxmlformats.org/officeDocument/2006/relationships/image" Target="/ppt/media/image3.jpeg" Id="Rfee24b7737f64f93" /><Relationship Type="http://schemas.openxmlformats.org/officeDocument/2006/relationships/notesSlide" Target="/ppt/notesSlides/notesSlide3.xml" Id="R625a9a4d330145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12da0fe4d4c06" /><Relationship Type="http://schemas.openxmlformats.org/officeDocument/2006/relationships/image" Target="/ppt/media/image4.jpeg" Id="Rbb35aa3fd91f4d68" /><Relationship Type="http://schemas.openxmlformats.org/officeDocument/2006/relationships/image" Target="/ppt/media/image5.jpeg" Id="Ra16cd0b231c3406d" /><Relationship Type="http://schemas.openxmlformats.org/officeDocument/2006/relationships/notesSlide" Target="/ppt/notesSlides/notesSlide4.xml" Id="R5978c93cf86e45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94f47470a474d" /><Relationship Type="http://schemas.openxmlformats.org/officeDocument/2006/relationships/image" Target="/ppt/media/image6.jpeg" Id="R2cb4c64292a2465f" /><Relationship Type="http://schemas.openxmlformats.org/officeDocument/2006/relationships/image" Target="/ppt/media/image7.jpeg" Id="R7266dd2542e24d13" /><Relationship Type="http://schemas.openxmlformats.org/officeDocument/2006/relationships/notesSlide" Target="/ppt/notesSlides/notesSlide5.xml" Id="R2ea310cd3c0247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18a4df57f4578" /><Relationship Type="http://schemas.openxmlformats.org/officeDocument/2006/relationships/image" Target="/ppt/media/image8.jpeg" Id="Raed18e3fc7504164" /><Relationship Type="http://schemas.openxmlformats.org/officeDocument/2006/relationships/image" Target="/ppt/media/image9.jpeg" Id="R84ed9464b35948fb" /><Relationship Type="http://schemas.openxmlformats.org/officeDocument/2006/relationships/notesSlide" Target="/ppt/notesSlides/notesSlide6.xml" Id="Rc47621615d3140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868a5876d4e86" /><Relationship Type="http://schemas.openxmlformats.org/officeDocument/2006/relationships/notesSlide" Target="/ppt/notesSlides/notesSlide7.xml" Id="R449999d3c3e140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65e20c7b0460d" /><Relationship Type="http://schemas.openxmlformats.org/officeDocument/2006/relationships/image" Target="/ppt/media/image10.jpeg" Id="R2e63c657ed1d4e01" /><Relationship Type="http://schemas.openxmlformats.org/officeDocument/2006/relationships/notesSlide" Target="/ppt/notesSlides/notesSlide8.xml" Id="R524bd955754b4f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17047fa044f34" /><Relationship Type="http://schemas.openxmlformats.org/officeDocument/2006/relationships/notesSlide" Target="/ppt/notesSlides/notesSlide9.xml" Id="R22d12e59aa1843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781fcdb1d4c78" /><Relationship Type="http://schemas.openxmlformats.org/officeDocument/2006/relationships/notesSlide" Target="/ppt/notesSlides/notesSlide10.xml" Id="R59d829fb193d4a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72b0b2c1f4f76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322E6-C3EA-4CAF-8B19-1C2387C7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5A751-CF1F-4B68-9481-DCA948FB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rPr>
              <a:t>Dell PowerEdge R510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EEAAC-BFCB-40BC-883D-00D4D37C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Hands-On Hardware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Inspection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814DC-9BDE-4D98-9488-D5C4D340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2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DDE2E7"/>
                </a:solidFill>
                <a:latin typeface="Bitstream Charter"/>
                <a:ea typeface="Bitstream Charter"/>
                <a:cs typeface="Bitstream Charter"/>
              </a:rPr>
              <a:t>Physical inspection, component identification, POST analysis, and fault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0F04B-945B-4449-9CF3-BA7E6508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0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8FDFD-7737-486E-AC6C-D7694A94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2C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B9C2CA"/>
                </a:solidFill>
                <a:latin typeface="Bitstream Charter"/>
                <a:ea typeface="Bitstream Charter"/>
                <a:cs typeface="Bitstream Charter"/>
              </a:rPr>
              <a:t>Evidence captured during an on-site inspection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C2F7C-8F51-4F8C-BB71-EE8343EF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Manager briefing</a:t>
            </a:r>
          </a:p>
        </p:txBody>
      </p:sp>
    </p:spTree>
    <p:extLst>
      <p:ext uri="{BB962C8B-B14F-4D97-AF65-F5344CB8AC3E}">
        <p14:creationId xmlns:p14="http://schemas.microsoft.com/office/powerpoint/2010/main" val="2009922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8D4F5-6BA8-4368-932F-01A91957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C7928-E4C2-4F0C-861E-2A38EA36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What I was asked to determine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FD112-4E32-4C9D-80BD-D4CF009C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A practical inspection, not a claimed repair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F5A1E-67C9-45CB-B8EF-544A6CA4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64D51-2FFD-4148-A9ED-745406A1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Dell PowerEdge R510 inspection   02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f984fae4d44a4"/>
          <a:srcRect xmlns:a="http://schemas.openxmlformats.org/drawingml/2006/main" l="6395" t="0" r="63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76375"/>
            <a:ext cx="47625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63343-50AB-4959-B002-7D86E7FF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77AF4-39C0-4405-8E15-10847EE0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My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2BB7E-5C49-4C36-BD09-489EBD24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Identify the installed hardware and connections, capture the startup behavior, and define the most likely next diagnostic steps.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4D79B-BBA1-477F-B3BB-86B6BB77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82125-0D46-4382-AE2A-26F57537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How I worked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C4738-394C-4E26-AA69-F94EAD7E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I opened the chassis, handled removable parts, read the actual component labels, traced visible connections, and photographed POST and BIOS.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491A9-EB1D-447B-B828-3E979E1C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43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B44335"/>
                </a:solidFill>
                <a:latin typeface="Bitstream Charter"/>
                <a:ea typeface="Bitstream Charter"/>
                <a:cs typeface="Bitstream Charter"/>
              </a:rPr>
              <a:t>I did not initialize disks or change RAID settings.</a:t>
            </a:r>
          </a:p>
        </p:txBody>
      </p:sp>
    </p:spTree>
    <p:extLst>
      <p:ext uri="{BB962C8B-B14F-4D97-AF65-F5344CB8AC3E}">
        <p14:creationId xmlns:p14="http://schemas.microsoft.com/office/powerpoint/2010/main" val="1235988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3B4DE-C898-4591-A7CF-259371C0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6ED76-4CBD-444E-BD3E-48F3CDCA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 opened the chassis and mapped the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A95AF-5540-49A7-B132-94D226D1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The wide view established the location of each major assembly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1EB02-A70B-421D-AADD-D49B9ECF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1BE2E-AE58-413D-92E5-4497E01D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Dell PowerEdge R510 inspection   03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24b7737f64f93"/>
          <a:stretch xmlns:a="http://schemas.openxmlformats.org/drawingml/2006/main"/>
        </p:blipFill>
        <p:spPr>
          <a:xfrm xmlns:a="http://schemas.openxmlformats.org/drawingml/2006/main">
            <a:off x="1321594" y="1428750"/>
            <a:ext cx="3500438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92241-0063-45ED-9293-CEA4A5B6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FC4B9-B286-401D-9884-2440AA7D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What I identified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1D22F-8970-4BC7-8A58-2F7046CB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Two processor sockets</a:t>
            </a:r>
          </a:p>
          <a:p xmlns:a="http://schemas.openxmlformats.org/drawingml/2006/main">
            <a:pPr algn="l">
              <a:def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Separate memory banks</a:t>
            </a:r>
          </a:p>
          <a:p xmlns:a="http://schemas.openxmlformats.org/drawingml/2006/main">
            <a:pPr algn="l">
              <a:def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Fan wall and airflow path</a:t>
            </a:r>
          </a:p>
          <a:p xmlns:a="http://schemas.openxmlformats.org/drawingml/2006/main">
            <a:pPr algn="l">
              <a:def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Internal and external RAID hardware</a:t>
            </a:r>
          </a:p>
          <a:p xmlns:a="http://schemas.openxmlformats.org/drawingml/2006/main">
            <a:pPr algn="l">
              <a:def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Two fixed internal SATA drives</a:t>
            </a:r>
          </a:p>
          <a:p xmlns:a="http://schemas.openxmlformats.org/drawingml/2006/main">
            <a:pPr algn="l">
              <a:def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Dual hot-swap power supplies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54C37-7D14-428C-A1DF-54E5D068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FF897-9E35-491D-A55D-B13B3DAA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48225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Physical condition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CB792-5B60-4847-918A-924EA2AB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3400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33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Moderate dust and normal wear. I saw no obvious burn damage or visibly swollen motherboard capacitors.</a:t>
            </a:r>
          </a:p>
        </p:txBody>
      </p:sp>
    </p:spTree>
    <p:extLst>
      <p:ext uri="{BB962C8B-B14F-4D97-AF65-F5344CB8AC3E}">
        <p14:creationId xmlns:p14="http://schemas.microsoft.com/office/powerpoint/2010/main" val="1268889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38DA7-7B18-41C0-AD97-7D9E3438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32E98-088C-4E3A-9CAD-3D59C791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 removed and identified the storage devices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4A90F-CE59-4481-AF4F-85B22B99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The disk labels, not the carrier labels, established the inventory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EB393-EBB1-4E0A-A6A6-9165FDDB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924F8-01AD-4407-A222-E75A29E6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Dell PowerEdge R510 inspection   04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5aa3fd91f4d68"/>
          <a:srcRect xmlns:a="http://schemas.openxmlformats.org/drawingml/2006/main" l="0" t="12264" r="0" b="122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571625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cd0b231c3406d"/>
          <a:srcRect xmlns:a="http://schemas.openxmlformats.org/drawingml/2006/main" l="0" t="5882" r="0" b="5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1571625"/>
            <a:ext cx="2428875" cy="2857500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1EB9D-E5FE-4704-9E63-64825C82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rPr>
              <a:t>4 x 146 GB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BCBE3-DB1E-4A13-AA1C-08062015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Dell-labeled Seagate 15K SAS drives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99C5F-B955-463F-9F2B-920DE666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05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rPr>
              <a:t>2 x 1 TB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ACE78-6F8A-49EB-8F3D-7798A36A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625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WD Red SATA drives mounted internally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7C683-197E-430A-B3B7-F941D103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71625"/>
            <a:ext cx="2428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8160B-9388-4658-8A7A-0C8E6ECD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955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2.584 TB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FC5AB-1342-43FB-AF22-80BE964E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241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DE2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DE2E7"/>
                </a:solidFill>
                <a:latin typeface="Bitstream Charter"/>
                <a:ea typeface="Bitstream Charter"/>
                <a:cs typeface="Bitstream Charter"/>
              </a:rPr>
              <a:t>label-reported raw capacity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8EC0B-E8B1-4F69-BE54-FCBEC95E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647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425E5-B1DB-4B95-B304-93775F9C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10000"/>
            <a:ext cx="195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Two visible front carriers were empty.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7A7BB-1D4E-4EB4-AF65-091810B7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5300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2B6A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E2B6A0"/>
                </a:solidFill>
                <a:latin typeface="Bitstream Charter"/>
                <a:ea typeface="Bitstream Charter"/>
                <a:cs typeface="Bitstream Charter"/>
              </a:rPr>
              <a:t>RAID level and disk health remain unknown.</a:t>
            </a:r>
          </a:p>
        </p:txBody>
      </p:sp>
    </p:spTree>
    <p:extLst>
      <p:ext uri="{BB962C8B-B14F-4D97-AF65-F5344CB8AC3E}">
        <p14:creationId xmlns:p14="http://schemas.microsoft.com/office/powerpoint/2010/main" val="1304672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F567A-93B0-4827-97C3-592206B8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5AA41-815C-4962-B734-5A454E6C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 inspected the RAID hardware and cache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A56C7-48E2-4D57-B7E3-9D09EE71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One physical condition became the main diagnostic lead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0E535-4AE6-49DE-A90C-285BF944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966C5-5754-42C2-B2E7-7FCEF83E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Dell PowerEdge R510 inspection   05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4c64292a2465f"/>
          <a:srcRect xmlns:a="http://schemas.openxmlformats.org/drawingml/2006/main" l="0" t="17188" r="0" b="17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24000"/>
            <a:ext cx="4953000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6dd2542e24d13"/>
          <a:srcRect xmlns:a="http://schemas.openxmlformats.org/drawingml/2006/main" l="0" t="19250" r="0" b="19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166687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64299-F1A3-4DDE-A48B-C0DFCB40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51AF4-0DB4-4817-9913-C14EDFD0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859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Observed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9C97F-D9EC-4E81-9478-F49261C5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94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The cache or memory module closest to the power-supply area appeared visibly arched or mechanically stressed.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D8D5E-B99C-455E-8F1E-9C2D0DB8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43375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E1152-6972-4D12-A01A-9B9401B1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33850"/>
            <a:ext cx="508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Confirmed hardware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8D037-018A-4AF1-B65E-40AE3B9C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PERC H700 Integrated</a:t>
            </a:r>
          </a:p>
          <a:p xmlns:a="http://schemas.openxmlformats.org/drawingml/2006/main">
            <a:pPr algn="l">
              <a:defRPr sz="1575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PERC H800 reported by POST</a:t>
            </a:r>
          </a:p>
          <a:p xmlns:a="http://schemas.openxmlformats.org/drawingml/2006/main">
            <a:pPr algn="l">
              <a:defRPr sz="1575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Dell FR463 lithium-ion RAID battery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AD066-2495-4BB7-B740-E5BC906C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290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The battery was present. Its health was not tested.</a:t>
            </a:r>
          </a:p>
        </p:txBody>
      </p:sp>
    </p:spTree>
    <p:extLst>
      <p:ext uri="{BB962C8B-B14F-4D97-AF65-F5344CB8AC3E}">
        <p14:creationId xmlns:p14="http://schemas.microsoft.com/office/powerpoint/2010/main" val="1720119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B234E-2CE7-4073-8CDA-B47804A9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830AB-7F79-4500-B16F-000D8649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POST showed two separate configuration problems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745F6-B3CA-4AA9-85D0-1BFA9A69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The firmware messages match two areas I inspected physically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BC286-C6E9-4A69-9FC5-2155EBAE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17B00-54E4-4A21-9883-81896EFD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Dell PowerEdge R510 inspection   06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18e3fc7504164"/>
          <a:srcRect xmlns:a="http://schemas.openxmlformats.org/drawingml/2006/main" l="0" t="7187" r="0" b="7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524000"/>
            <a:ext cx="5191125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d9464b35948fb"/>
          <a:srcRect xmlns:a="http://schemas.openxmlformats.org/drawingml/2006/main" l="0" t="7187" r="0" b="7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524000"/>
            <a:ext cx="5191125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2FE3A-BF51-49B7-BDDE-F47D169C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rPr>
              <a:t>Memory topology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0348F-E87A-49F8-B567-B532009E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0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CPU2 installed with no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A780E-BACF-4AF3-AA5E-AF4061F6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rPr>
              <a:t>PERC H800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2DF5A-F2B5-45DE-8064-32A7A51B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Firmware fault and SDRAM connection error</a:t>
            </a:r>
          </a:p>
        </p:txBody>
      </p:sp>
    </p:spTree>
    <p:extLst>
      <p:ext uri="{BB962C8B-B14F-4D97-AF65-F5344CB8AC3E}">
        <p14:creationId xmlns:p14="http://schemas.microsoft.com/office/powerpoint/2010/main" val="1149189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6A0CE-B283-431D-A0A2-07113F7D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0245F-448E-4A7B-A7E6-DDC2F2B2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How I connected the evidence without overclaiming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1CCC9-7587-4E88-8F4A-A82DFEED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Observation and error point to the same subsystem, but the cause still needs 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DF5B4-E453-47CC-855F-E379ABD7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8E319-F0A3-4059-A329-A777C790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Dell PowerEdge R510 inspection 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63E0A-9954-4122-89A9-13FFACF9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0D9E5-9CA0-4C00-85EA-29E2D0A2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517F9-E1BC-4D84-8452-C536C0E1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POST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6B337-9E89-4D19-B876-4DF8F7A4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H800 reports a firmware fault and instructs the operator to check the SDRAM connection.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EE770-3693-4974-962A-15C5B38B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62125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CF16E-702B-4733-87F7-880B1A54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669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D9B84-4F78-4631-9527-8B1DB198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43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Physical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86125-EC8C-4210-A9F7-A4C40046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575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A RAID cache or memory module appeared bowed near the power-supply area.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D0EB0-7286-4614-9580-7DB2E4AE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A56F9-29F4-4EF2-B55A-3EFF80EC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669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03AA5-331A-41CB-843E-7002BB33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43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1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Working hypothesis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43446-BB51-4FB0-BA59-67B1F931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575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The cache module, connector, or controller deserves priority during the next inspection.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63794-1B75-4B9F-8FBE-E3805F8A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62125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82EB7-F523-4AED-B2F1-6E519D7B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669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7D598-B133-4A78-8B97-21704D9C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43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Required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1B3BC-0505-41CE-9FF1-A4D57D23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2575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Identify the exact adapter, inspect the connector, reseat safely, and compare the next POST result.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4D3B4F-980A-4BC9-894F-774224E9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0D9E1B-0DAD-493D-B793-A410DE2C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443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B44335"/>
                </a:solidFill>
                <a:latin typeface="Bitstream Charter"/>
                <a:ea typeface="Bitstream Charter"/>
                <a:cs typeface="Bitstream Charter"/>
              </a:rPr>
              <a:t>Current conclusion: strong diagnostic lead, unconfirmed root cause.</a:t>
            </a:r>
          </a:p>
        </p:txBody>
      </p:sp>
    </p:spTree>
    <p:extLst>
      <p:ext uri="{BB962C8B-B14F-4D97-AF65-F5344CB8AC3E}">
        <p14:creationId xmlns:p14="http://schemas.microsoft.com/office/powerpoint/2010/main" val="965834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F662D-7842-47BE-8C49-02CF3FD0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E1512-3C58-4958-8E12-1A1EF17E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Other findings affect service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6B1D7-1C2B-447D-85A1-D9C9EDDF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The server starts, but several conditions remain unresolved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7196A-5942-4994-BE8F-FD2A4A0A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E9172-B6D6-4599-B29D-928C0BEC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Dell PowerEdge R510 inspection   08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3c657ed1d4e01"/>
          <a:srcRect xmlns:a="http://schemas.openxmlformats.org/drawingml/2006/main" l="7865" t="0" r="78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24000"/>
            <a:ext cx="4762500" cy="4238625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BEB7C-478E-4785-8C31-34FFBCBB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33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6369C-7FB1-41B0-8DBD-685E6646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09725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Unsupported memory layout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AFB57-B72E-4340-8AFA-A1D75C6B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Three 4 GB DIMMs were installed in the CPU1 bank. CPU2 had no local memory.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C613F-2920-440B-B4E2-316A8BA8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337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C5D0C-8C53-443C-9FAD-975AC171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24225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No verified boot volume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69D0C-4987-49AE-B8A1-9E13E99D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00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POST did not find a bootable device. The available evidence does not establish whether the cause is the RAID fault, missing media, or boot configuration.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DBBB4-CAB1-4E74-A376-D78B24D0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3400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75ED5-74F2-4158-A535-5BE61BAF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324475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Unknown component health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C4308-CB21-495D-9723-FD8486BA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810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Drive health, RAID membership, and battery condition were not tested.</a:t>
            </a:r>
          </a:p>
        </p:txBody>
      </p:sp>
    </p:spTree>
    <p:extLst>
      <p:ext uri="{BB962C8B-B14F-4D97-AF65-F5344CB8AC3E}">
        <p14:creationId xmlns:p14="http://schemas.microsoft.com/office/powerpoint/2010/main" val="19844833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6B579-72D3-4E30-B0CE-2A6F7750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045BE-3311-4968-BF17-9799A29D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My next diagnostic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CBD85-8F71-4938-84A7-A844E05C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This order protects the hardware and avoids destructive RAID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16D84-2928-4C8A-B391-AB159D1A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A61E9-7FC9-4589-9FC8-94633295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8727C"/>
                </a:solidFill>
                <a:latin typeface="Bitstream Charter"/>
                <a:ea typeface="Bitstream Charter"/>
                <a:cs typeface="Bitstream Charter"/>
              </a:rPr>
              <a:t>Dell PowerEdge R510 inspection 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BA11F-8A89-4D93-B851-B4035B53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0FE91-EC3E-4927-AC72-7CA26922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763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Power down and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E6A23-0C91-4A00-BBF7-317A2DF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57325"/>
            <a:ext cx="566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Disconnect both supplies, use ESD protection, and record every connection before moving hardware.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B9F59-37E1-40AF-A2F6-D8775FC0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050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88AC2-BAC6-487A-A96F-C32D3D68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907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DE2B0-041C-445A-A1CE-7ADE6925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907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Inspect the H800 cache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B1912-8785-4492-8306-44E24323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71725"/>
            <a:ext cx="566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Match the physical adapter to POST, then inspect the module, socket, clips, and battery cable.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39D7D-E7BB-42BA-8131-9AF3C447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194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307F1-D15C-43E8-A804-FCF848F3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051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6EE60-9536-48CE-8479-F1017FA3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96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Repeat POST after one controlled change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EB6EC-F13E-4E51-9BE5-C07963A9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86125"/>
            <a:ext cx="566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Record whether the SDRAM and firmware errors change after safe reseating.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FC1AC-E9F6-4261-AF8E-C36734B5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33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FD209-9495-42C7-A9B2-75F079E4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95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C6BA7-C6C0-4E1C-A877-B948719D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95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9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Capture RAID state without modifying 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D1B70-55DC-41EF-A957-1D98BA18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00525"/>
            <a:ext cx="566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Open both PERC utilities and document disks, virtual disks, and any foreign configuration.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AB058-60C4-4C30-90DD-3BC4402E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482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51241-D43C-48A1-BEF9-E395F016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3397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C3B945-EE8E-496F-A830-3B248C75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Correct memory and run diagnostics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11708-62B7-499A-A129-7577B539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114925"/>
            <a:ext cx="566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72B"/>
                </a:solidFill>
                <a:latin typeface="Bitstream Charter"/>
                <a:ea typeface="Bitstream Charter"/>
                <a:cs typeface="Bitstream Charter"/>
              </a:rPr>
              <a:t>Use a supported two-processor DIMM layout, then run Dell hardware tests and review logs.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2A8CA5-7B19-495C-A7A0-7C78759E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56AE5-F478-4C52-8409-74406BA3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43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B44335"/>
                </a:solidFill>
                <a:latin typeface="Bitstream Charter"/>
                <a:ea typeface="Bitstream Charter"/>
                <a:cs typeface="Bitstream Charter"/>
              </a:rPr>
              <a:t>Do not initialize disks, clear foreign configurations, or create arrays until the existing data risk is understood.</a:t>
            </a:r>
          </a:p>
        </p:txBody>
      </p:sp>
    </p:spTree>
    <p:extLst>
      <p:ext uri="{BB962C8B-B14F-4D97-AF65-F5344CB8AC3E}">
        <p14:creationId xmlns:p14="http://schemas.microsoft.com/office/powerpoint/2010/main" val="5185002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5A131-66A6-4557-90E6-F18EB6B9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99E9C-1892-4BB6-9365-62C812C9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What this project demonstrates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914A5-BA83-4238-A7E2-AD50FB8D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EBC8B-8891-4F81-B90E-985CC27C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9725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Hands-on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DD13A-A066-4FF3-B646-0FF8D831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 opened the server, handled components, read physical labels, traced connections, and captured the startup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B4935-7027-4803-859D-4ADCB4CF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B5056-4981-42DA-8592-A697C9CA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09725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Technical judgment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95DF2-5CCE-4BAF-82E2-1C8DAB68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431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 separated confirmed findings from hypotheses and protected the existing storage configuration from unnecessary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C5F6E-CC79-412C-AF68-D09701A2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1033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17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0675B-D604-4249-A968-822C1C46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D96C2C"/>
                </a:solidFill>
                <a:latin typeface="Bitstream Charter"/>
                <a:ea typeface="Bitstream Charter"/>
                <a:cs typeface="Bitstream Charter"/>
              </a:rPr>
              <a:t>Responsible AI 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1E49E-7EC2-4303-832E-98B34F2B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3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DE2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DE2E7"/>
                </a:solidFill>
                <a:latin typeface="Bitstream Charter"/>
                <a:ea typeface="Bitstream Charter"/>
                <a:cs typeface="Bitstream Charter"/>
              </a:rPr>
              <a:t>AI helped organize the notes, check terminology, and structure the documentation. The inspection, observations, and photographs came from my work with the server.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AC6C3-40DF-429B-8FE3-DD29E2BF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1033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EB9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EB9C2"/>
                </a:solidFill>
                <a:latin typeface="Bitstream Charter"/>
                <a:ea typeface="Bitstream Charter"/>
                <a:cs typeface="Bitstream Charter"/>
              </a:rPr>
              <a:t>Detailed evidence and the full report are included in the GitHub repository.</a:t>
            </a:r>
          </a:p>
        </p:txBody>
      </p:sp>
    </p:spTree>
    <p:extLst>
      <p:ext uri="{BB962C8B-B14F-4D97-AF65-F5344CB8AC3E}">
        <p14:creationId xmlns:p14="http://schemas.microsoft.com/office/powerpoint/2010/main" val="2143136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2026-09-18T19:31:11.0170000Z</dcterms:created>
  <dcterms:modified xsi:type="dcterms:W3CDTF">2026-09-18T19:31:11.0170000Z</dcterms:modified>
</coreProperties>
</file>